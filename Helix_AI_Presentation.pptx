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48640"/>
            <a:ext cx="310896" cy="310896"/>
          </a:xfrm>
          <a:prstGeom prst="ellipse">
            <a:avLst/>
          </a:prstGeom>
          <a:solidFill>
            <a:srgbClr val="2B5C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60911" y="1115568"/>
            <a:ext cx="310896" cy="310896"/>
          </a:xfrm>
          <a:prstGeom prst="ellipse">
            <a:avLst/>
          </a:prstGeom>
          <a:solidFill>
            <a:srgbClr val="3B5998"/>
          </a:solidFill>
          <a:ln/>
        </p:spPr>
      </p:sp>
      <p:sp>
        <p:nvSpPr>
          <p:cNvPr id="4" name="Shape 2"/>
          <p:cNvSpPr/>
          <p:nvPr/>
        </p:nvSpPr>
        <p:spPr>
          <a:xfrm>
            <a:off x="10456727" y="1682496"/>
            <a:ext cx="310896" cy="310896"/>
          </a:xfrm>
          <a:prstGeom prst="ellipse">
            <a:avLst/>
          </a:prstGeom>
          <a:solidFill>
            <a:srgbClr val="5A4B81"/>
          </a:solidFill>
          <a:ln/>
        </p:spPr>
      </p:sp>
      <p:sp>
        <p:nvSpPr>
          <p:cNvPr id="5" name="Shape 3"/>
          <p:cNvSpPr/>
          <p:nvPr/>
        </p:nvSpPr>
        <p:spPr>
          <a:xfrm>
            <a:off x="10181898" y="2249424"/>
            <a:ext cx="310896" cy="310896"/>
          </a:xfrm>
          <a:prstGeom prst="ellipse">
            <a:avLst/>
          </a:prstGeom>
          <a:solidFill>
            <a:srgbClr val="C8842E"/>
          </a:solidFill>
          <a:ln/>
        </p:spPr>
      </p:sp>
      <p:sp>
        <p:nvSpPr>
          <p:cNvPr id="6" name="Shape 4"/>
          <p:cNvSpPr/>
          <p:nvPr/>
        </p:nvSpPr>
        <p:spPr>
          <a:xfrm>
            <a:off x="9744408" y="2816352"/>
            <a:ext cx="310896" cy="310896"/>
          </a:xfrm>
          <a:prstGeom prst="ellipse">
            <a:avLst/>
          </a:prstGeom>
          <a:solidFill>
            <a:srgbClr val="2B5C6F"/>
          </a:solidFill>
          <a:ln/>
        </p:spPr>
      </p:sp>
      <p:sp>
        <p:nvSpPr>
          <p:cNvPr id="7" name="Shape 5"/>
          <p:cNvSpPr/>
          <p:nvPr/>
        </p:nvSpPr>
        <p:spPr>
          <a:xfrm>
            <a:off x="9475341" y="3383280"/>
            <a:ext cx="310896" cy="310896"/>
          </a:xfrm>
          <a:prstGeom prst="ellipse">
            <a:avLst/>
          </a:prstGeom>
          <a:solidFill>
            <a:srgbClr val="3B5998"/>
          </a:solidFill>
          <a:ln/>
        </p:spPr>
      </p:sp>
      <p:sp>
        <p:nvSpPr>
          <p:cNvPr id="8" name="Shape 6"/>
          <p:cNvSpPr/>
          <p:nvPr/>
        </p:nvSpPr>
        <p:spPr>
          <a:xfrm>
            <a:off x="9578321" y="3950208"/>
            <a:ext cx="310896" cy="310896"/>
          </a:xfrm>
          <a:prstGeom prst="ellipse">
            <a:avLst/>
          </a:prstGeom>
          <a:solidFill>
            <a:srgbClr val="5A4B81"/>
          </a:solidFill>
          <a:ln/>
        </p:spPr>
      </p:sp>
      <p:sp>
        <p:nvSpPr>
          <p:cNvPr id="9" name="Shape 7"/>
          <p:cNvSpPr/>
          <p:nvPr/>
        </p:nvSpPr>
        <p:spPr>
          <a:xfrm>
            <a:off x="9975416" y="4517136"/>
            <a:ext cx="310896" cy="310896"/>
          </a:xfrm>
          <a:prstGeom prst="ellipse">
            <a:avLst/>
          </a:prstGeom>
          <a:solidFill>
            <a:srgbClr val="C884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366111" y="5084064"/>
            <a:ext cx="310896" cy="310896"/>
          </a:xfrm>
          <a:prstGeom prst="ellipse">
            <a:avLst/>
          </a:prstGeom>
          <a:solidFill>
            <a:srgbClr val="2B5C6F"/>
          </a:solidFill>
          <a:ln/>
        </p:spPr>
      </p:sp>
      <p:sp>
        <p:nvSpPr>
          <p:cNvPr id="11" name="Shape 9"/>
          <p:cNvSpPr/>
          <p:nvPr/>
        </p:nvSpPr>
        <p:spPr>
          <a:xfrm>
            <a:off x="10454737" y="5650992"/>
            <a:ext cx="310896" cy="310896"/>
          </a:xfrm>
          <a:prstGeom prst="ellipse">
            <a:avLst/>
          </a:prstGeom>
          <a:solidFill>
            <a:srgbClr val="3B5998"/>
          </a:solidFill>
          <a:ln/>
        </p:spPr>
      </p:sp>
      <p:sp>
        <p:nvSpPr>
          <p:cNvPr id="12" name="Shape 10"/>
          <p:cNvSpPr/>
          <p:nvPr/>
        </p:nvSpPr>
        <p:spPr>
          <a:xfrm>
            <a:off x="9966960" y="548640"/>
            <a:ext cx="201168" cy="201168"/>
          </a:xfrm>
          <a:prstGeom prst="ellipse">
            <a:avLst/>
          </a:prstGeom>
          <a:solidFill>
            <a:srgbClr val="5A4B81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573009" y="1115568"/>
            <a:ext cx="201168" cy="201168"/>
          </a:xfrm>
          <a:prstGeom prst="ellipse">
            <a:avLst/>
          </a:prstGeom>
          <a:solidFill>
            <a:srgbClr val="C8842E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477193" y="1682496"/>
            <a:ext cx="201168" cy="201168"/>
          </a:xfrm>
          <a:prstGeom prst="ellipse">
            <a:avLst/>
          </a:prstGeom>
          <a:solidFill>
            <a:srgbClr val="2B5C6F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52022" y="2249424"/>
            <a:ext cx="201168" cy="201168"/>
          </a:xfrm>
          <a:prstGeom prst="ellipse">
            <a:avLst/>
          </a:prstGeom>
          <a:solidFill>
            <a:srgbClr val="3B599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189512" y="2816352"/>
            <a:ext cx="201168" cy="201168"/>
          </a:xfrm>
          <a:prstGeom prst="ellipse">
            <a:avLst/>
          </a:prstGeom>
          <a:solidFill>
            <a:srgbClr val="5A4B81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58579" y="3383280"/>
            <a:ext cx="201168" cy="201168"/>
          </a:xfrm>
          <a:prstGeom prst="ellipse">
            <a:avLst/>
          </a:prstGeom>
          <a:solidFill>
            <a:srgbClr val="C8842E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355599" y="3950208"/>
            <a:ext cx="201168" cy="201168"/>
          </a:xfrm>
          <a:prstGeom prst="ellipse">
            <a:avLst/>
          </a:prstGeom>
          <a:solidFill>
            <a:srgbClr val="2B5C6F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958504" y="4517136"/>
            <a:ext cx="201168" cy="201168"/>
          </a:xfrm>
          <a:prstGeom prst="ellipse">
            <a:avLst/>
          </a:prstGeom>
          <a:solidFill>
            <a:srgbClr val="3B599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67809" y="5084064"/>
            <a:ext cx="201168" cy="201168"/>
          </a:xfrm>
          <a:prstGeom prst="ellipse">
            <a:avLst/>
          </a:prstGeom>
          <a:solidFill>
            <a:srgbClr val="5A4B81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79183" y="5650992"/>
            <a:ext cx="201168" cy="201168"/>
          </a:xfrm>
          <a:prstGeom prst="ellipse">
            <a:avLst/>
          </a:prstGeom>
          <a:solidFill>
            <a:srgbClr val="C8842E">
              <a:alpha val="7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8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24688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HELIX AI</a:t>
            </a:r>
            <a:endParaRPr lang="en-US" sz="6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79476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Unwinding complexity — a Streamlit + OpenAI chat interface for fast, configurable AI conversations.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 ·  Built with Python, Streamlit &amp; the OpenAI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Helix AI?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B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AI is a lightweight, single-file Streamlit application that turns the OpenAI Chat Completions API into a polished, self-hosted chat experience — no backend server, no build step, just Python.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2B5C6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24" dirty="0"/>
          </a:p>
        </p:txBody>
      </p:sp>
      <p:sp>
        <p:nvSpPr>
          <p:cNvPr id="6" name="Text 4"/>
          <p:cNvSpPr/>
          <p:nvPr/>
        </p:nvSpPr>
        <p:spPr>
          <a:xfrm>
            <a:off x="1234440" y="284378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chat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17296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persists in Streamlit session state across turns.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2B5C6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24" dirty="0"/>
          </a:p>
        </p:txBody>
      </p:sp>
      <p:sp>
        <p:nvSpPr>
          <p:cNvPr id="10" name="Text 8"/>
          <p:cNvSpPr/>
          <p:nvPr/>
        </p:nvSpPr>
        <p:spPr>
          <a:xfrm>
            <a:off x="1234440" y="38039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persona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13308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live-editable system prompt reshapes the assistant's behavior instantly.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384048" cy="384048"/>
          </a:xfrm>
          <a:prstGeom prst="ellipse">
            <a:avLst/>
          </a:prstGeom>
          <a:solidFill>
            <a:srgbClr val="2B5C6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24" dirty="0"/>
          </a:p>
        </p:txBody>
      </p:sp>
      <p:sp>
        <p:nvSpPr>
          <p:cNvPr id="14" name="Text 12"/>
          <p:cNvSpPr/>
          <p:nvPr/>
        </p:nvSpPr>
        <p:spPr>
          <a:xfrm>
            <a:off x="1234440" y="476402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 demand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9320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between GPT-4o, GPT-4o-mini and GPT-3.5-turbo from the sidebar.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1371600"/>
            <a:ext cx="4983480" cy="4754880"/>
          </a:xfrm>
          <a:prstGeom prst="roundRect">
            <a:avLst>
              <a:gd name="adj" fmla="val 2692"/>
            </a:avLst>
          </a:prstGeom>
          <a:solidFill>
            <a:srgbClr val="F3F4F6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609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exchange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224028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B5C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2240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CRISPR in one paragraph.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86600" y="31089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5A4B8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9480" y="310896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 is a gene-editing technology that lets scientists precisely cut and modify DNA sequences, using a guide RNA to target specific genes...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12280" y="4663440"/>
            <a:ext cx="4709160" cy="1234440"/>
          </a:xfrm>
          <a:prstGeom prst="roundRect">
            <a:avLst>
              <a:gd name="adj" fmla="val 7407"/>
            </a:avLst>
          </a:prstGeom>
          <a:solidFill>
            <a:srgbClr val="FBEED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95160" y="4663440"/>
            <a:ext cx="4343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token-by-token — the response renders live as OpenAI generates it.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Helix AI?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chat tools are either locked-down products or raw API playgrounds. Helix AI sits in between.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AA1A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AI apps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5760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but you can't see or shape the system prompt, switch models, or self-host the experience.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AA1A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playgrounds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65760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but no interface — every test means writing or re-running a script.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1B2027"/>
          </a:solidFill>
          <a:ln w="19050">
            <a:solidFill>
              <a:srgbClr val="C884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65760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openness of the API with a real, branded interface: pick the model, shape the persona, watch it stream.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choices that keep the app simple to run and pleasant to use.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2B5C6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364" dirty="0"/>
          </a:p>
        </p:txBody>
      </p:sp>
      <p:sp>
        <p:nvSpPr>
          <p:cNvPr id="7" name="Text 5"/>
          <p:cNvSpPr/>
          <p:nvPr/>
        </p:nvSpPr>
        <p:spPr>
          <a:xfrm>
            <a:off x="1691640" y="21671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switching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GPT-4o, GPT-4o-mini, or GPT-3.5-turbo from a sidebar dropdown — no code changes or restarts.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48840"/>
            <a:ext cx="566928" cy="566928"/>
          </a:xfrm>
          <a:prstGeom prst="ellipse">
            <a:avLst/>
          </a:prstGeom>
          <a:solidFill>
            <a:srgbClr val="5A4B8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364" dirty="0"/>
          </a:p>
        </p:txBody>
      </p:sp>
      <p:sp>
        <p:nvSpPr>
          <p:cNvPr id="12" name="Text 10"/>
          <p:cNvSpPr/>
          <p:nvPr/>
        </p:nvSpPr>
        <p:spPr>
          <a:xfrm>
            <a:off x="7315200" y="21671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persona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8346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is an exposed text field, so the assistant's voice and expertise can be redefined on the fly.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572000"/>
            <a:ext cx="566928" cy="566928"/>
          </a:xfrm>
          <a:prstGeom prst="ellipse">
            <a:avLst/>
          </a:prstGeom>
          <a:solidFill>
            <a:srgbClr val="3B599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64" dirty="0"/>
          </a:p>
        </p:txBody>
      </p:sp>
      <p:sp>
        <p:nvSpPr>
          <p:cNvPr id="17" name="Text 15"/>
          <p:cNvSpPr/>
          <p:nvPr/>
        </p:nvSpPr>
        <p:spPr>
          <a:xfrm>
            <a:off x="1691640" y="459028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replies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2578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stream in as they're generated, so replies appear incrementally instead of after a long pause.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2976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572000"/>
            <a:ext cx="566928" cy="566928"/>
          </a:xfrm>
          <a:prstGeom prst="ellipse">
            <a:avLst/>
          </a:prstGeom>
          <a:solidFill>
            <a:srgbClr val="C8842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◧</a:t>
            </a:r>
            <a:endParaRPr lang="en-US" sz="1364" dirty="0"/>
          </a:p>
        </p:txBody>
      </p:sp>
      <p:sp>
        <p:nvSpPr>
          <p:cNvPr id="22" name="Text 20"/>
          <p:cNvSpPr/>
          <p:nvPr/>
        </p:nvSpPr>
        <p:spPr>
          <a:xfrm>
            <a:off x="7315200" y="459028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themed UI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2578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bespoke off-white / slate / indigo stylesheet replaces Streamlit's defaults for a distinct, branded feel.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 foundation for anyone who wants a branded chat assistant without building one from scratch.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52B36"/>
          </a:solidFill>
          <a:ln w="12700">
            <a:solidFill>
              <a:srgbClr val="394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B5C6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learners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open-ended questions on any subject and get clear, conversational explanations — like the CRISPR example earlier.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52B36"/>
          </a:solidFill>
          <a:ln w="12700">
            <a:solidFill>
              <a:srgbClr val="3941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A4B81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&amp; tinkerers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ready-made starting point for prototyping your own AI assistant, persona, and interface.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52B36"/>
          </a:solidFill>
          <a:ln w="12700">
            <a:solidFill>
              <a:srgbClr val="3941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5998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an internal assistant with a custom voice — support, research, or brainstorming — without a big product build.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0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52B36"/>
          </a:solidFill>
          <a:ln w="12700">
            <a:solidFill>
              <a:srgbClr val="3941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&amp; demos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switchable model and persona make it easy to show how prompting and model choice change an answer.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Conversation Flows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typed question to a live, streamed answer — in four simple moments.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2542032"/>
            <a:ext cx="548640" cy="548640"/>
          </a:xfrm>
          <a:prstGeom prst="ellipse">
            <a:avLst/>
          </a:prstGeom>
          <a:solidFill>
            <a:srgbClr val="2B5C6F"/>
          </a:solidFill>
          <a:ln/>
        </p:spPr>
      </p:sp>
      <p:sp>
        <p:nvSpPr>
          <p:cNvPr id="6" name="Text 4"/>
          <p:cNvSpPr/>
          <p:nvPr/>
        </p:nvSpPr>
        <p:spPr>
          <a:xfrm>
            <a:off x="1623060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anything — a concept to explain, a task to think through, a draft to react to.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54680" y="310896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47288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4430268" y="2542032"/>
            <a:ext cx="548640" cy="548640"/>
          </a:xfrm>
          <a:prstGeom prst="ellipse">
            <a:avLst/>
          </a:prstGeom>
          <a:solidFill>
            <a:srgbClr val="3B5998"/>
          </a:solidFill>
          <a:ln/>
        </p:spPr>
      </p:sp>
      <p:sp>
        <p:nvSpPr>
          <p:cNvPr id="12" name="Text 10"/>
          <p:cNvSpPr/>
          <p:nvPr/>
        </p:nvSpPr>
        <p:spPr>
          <a:xfrm>
            <a:off x="4430268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shapes the tone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7947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voice you've set for the assistant — expert, casual, technical — carries into the reply.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61888" y="310896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54496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237476" y="2542032"/>
            <a:ext cx="548640" cy="548640"/>
          </a:xfrm>
          <a:prstGeom prst="ellipse">
            <a:avLst/>
          </a:prstGeom>
          <a:solidFill>
            <a:srgbClr val="5A4B81"/>
          </a:solidFill>
          <a:ln/>
        </p:spPr>
      </p:sp>
      <p:sp>
        <p:nvSpPr>
          <p:cNvPr id="18" name="Text 16"/>
          <p:cNvSpPr/>
          <p:nvPr/>
        </p:nvSpPr>
        <p:spPr>
          <a:xfrm>
            <a:off x="7237476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thinks it through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7947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chosen model (fast or more capable) processes the question in context.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69096" y="310896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61704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44684" y="2542032"/>
            <a:ext cx="548640" cy="548640"/>
          </a:xfrm>
          <a:prstGeom prst="ellipse">
            <a:avLst/>
          </a:prstGeom>
          <a:solidFill>
            <a:srgbClr val="C884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44684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streams in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37947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appear as they're generated, so you're reading while the assistant is still "thinking."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BEED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0749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exchange happens in one continuous session — the assistant remembers everything said so far.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Experience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restrained, custom-themed interface layered on top of Streamlit's defaults.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2B5C6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off-white canvas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31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 background with slate text keeps long conversations easy on the eyes.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5A4B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18872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teal &amp; indigo accents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918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restrained two-tone gradient (teal → indigo) marks the brand mark and title.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3B599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chat bubbles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assistant messages get separate avatars and a colored left border for quick scanning.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365760" cy="365760"/>
          </a:xfrm>
          <a:prstGeom prst="ellipse">
            <a:avLst/>
          </a:prstGeom>
          <a:solidFill>
            <a:srgbClr val="C884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188720" y="4892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sidebar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212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and persona live in the sidebar, keeping the main canvas dedicated to conversation.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2057400"/>
            <a:ext cx="4983480" cy="4160520"/>
          </a:xfrm>
          <a:prstGeom prst="roundRect">
            <a:avLst>
              <a:gd name="adj" fmla="val 2637"/>
            </a:avLst>
          </a:prstGeom>
          <a:solidFill>
            <a:srgbClr val="EEEBE3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2057400"/>
            <a:ext cx="1554480" cy="4160520"/>
          </a:xfrm>
          <a:prstGeom prst="rect">
            <a:avLst/>
          </a:prstGeom>
          <a:solidFill>
            <a:srgbClr val="EEEBE3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2286000"/>
            <a:ext cx="292608" cy="292608"/>
          </a:xfrm>
          <a:prstGeom prst="ellipse">
            <a:avLst/>
          </a:prstGeom>
          <a:solidFill>
            <a:srgbClr val="2B5C6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4" dirty="0"/>
          </a:p>
        </p:txBody>
      </p:sp>
      <p:sp>
        <p:nvSpPr>
          <p:cNvPr id="24" name="Text 22"/>
          <p:cNvSpPr/>
          <p:nvPr/>
        </p:nvSpPr>
        <p:spPr>
          <a:xfrm>
            <a:off x="6766560" y="2615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HELIX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3063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766560" y="3310128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0C9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7947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766560" y="4041648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9B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286000"/>
            <a:ext cx="3063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2B5C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2860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I theme my app?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75320" y="3200400"/>
            <a:ext cx="3063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5A4B8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12480" y="3200400"/>
            <a:ext cx="2788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restrained palette: one dominant tone, one accent, consistent spacing across the sidebar and chat.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503920" y="5394960"/>
            <a:ext cx="27889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0C9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5394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Helix AI anything...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prompts that show off what changes when you switch model or persona.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B5C6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like I'm five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how vaccines work like I'm five.”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A4B8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21031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the persona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51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system prompt to a specific expert voice, then ask the same question again.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599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5720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tricky reasoning question on GPT-3.5-turbo, then again on GPT-4o.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8842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4023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for depth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5720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the strongest counter-argument to this idea.”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BEED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demo: helix-aii.streamlit.app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" cy="274320"/>
          </a:xfrm>
          <a:prstGeom prst="ellipse">
            <a:avLst/>
          </a:prstGeom>
          <a:solidFill>
            <a:srgbClr val="2B5C6F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5150" y="1115568"/>
            <a:ext cx="274320" cy="274320"/>
          </a:xfrm>
          <a:prstGeom prst="ellipse">
            <a:avLst/>
          </a:prstGeom>
          <a:solidFill>
            <a:srgbClr val="3B5998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4835" y="1773936"/>
            <a:ext cx="274320" cy="274320"/>
          </a:xfrm>
          <a:prstGeom prst="ellipse">
            <a:avLst/>
          </a:prstGeom>
          <a:solidFill>
            <a:srgbClr val="5A4B81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04958" y="2432304"/>
            <a:ext cx="274320" cy="274320"/>
          </a:xfrm>
          <a:prstGeom prst="ellipse">
            <a:avLst/>
          </a:prstGeom>
          <a:solidFill>
            <a:srgbClr val="C8842E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6784" y="3090672"/>
            <a:ext cx="274320" cy="274320"/>
          </a:xfrm>
          <a:prstGeom prst="ellipse">
            <a:avLst/>
          </a:prstGeom>
          <a:solidFill>
            <a:srgbClr val="2B5C6F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91099" y="3749040"/>
            <a:ext cx="274320" cy="274320"/>
          </a:xfrm>
          <a:prstGeom prst="ellipse">
            <a:avLst/>
          </a:prstGeom>
          <a:solidFill>
            <a:srgbClr val="3B5998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65994" y="4407408"/>
            <a:ext cx="274320" cy="274320"/>
          </a:xfrm>
          <a:prstGeom prst="ellipse">
            <a:avLst/>
          </a:prstGeom>
          <a:solidFill>
            <a:srgbClr val="5A4B81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4790" y="5065776"/>
            <a:ext cx="274320" cy="274320"/>
          </a:xfrm>
          <a:prstGeom prst="ellipse">
            <a:avLst/>
          </a:prstGeom>
          <a:solidFill>
            <a:srgbClr val="C8842E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246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AI — a small, focused app proving that a great chat experience doesn't need a heavy stack.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65960" y="4206240"/>
            <a:ext cx="4023360" cy="640080"/>
          </a:xfrm>
          <a:prstGeom prst="roundRect">
            <a:avLst>
              <a:gd name="adj" fmla="val 50000"/>
            </a:avLst>
          </a:prstGeom>
          <a:solidFill>
            <a:srgbClr val="252B36"/>
          </a:solidFill>
          <a:ln w="15875">
            <a:solidFill>
              <a:srgbClr val="2B5C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helix-aii.streamlit.app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under MIT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2026-09-06T02:55:30Z</dcterms:created>
  <dcterms:modified xsi:type="dcterms:W3CDTF">2026-09-06T02:55:30Z</dcterms:modified>
</cp:coreProperties>
</file>